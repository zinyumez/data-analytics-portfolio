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4498" y="1828800"/>
            <a:ext cx="7612533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2D4B41"/>
                </a:solidFill>
              </a:defRPr>
            </a:pPr>
            <a:r>
              <a:rPr dirty="0"/>
              <a:t>BREAST CANCER</a:t>
            </a:r>
            <a:br>
              <a:rPr dirty="0"/>
            </a:br>
            <a:r>
              <a:rPr dirty="0"/>
              <a:t>ANALYTICS REPORT</a:t>
            </a:r>
            <a:endParaRPr lang="en-US" dirty="0"/>
          </a:p>
          <a:p>
            <a:pPr algn="ctr">
              <a:defRPr sz="3800" b="1">
                <a:solidFill>
                  <a:srgbClr val="2D4B41"/>
                </a:solidFill>
              </a:defRPr>
            </a:pPr>
            <a:r>
              <a:rPr lang="en-US" dirty="0"/>
              <a:t>PRESENTED BY UCHECHI UMEZURIKE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A5A5A"/>
                </a:solidFill>
              </a:defRPr>
            </a:pPr>
            <a:r>
              <a:t>Analysis of Patient Characteristics, Cancer Stage, Tumor Size and Survival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D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4B41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5A5A5A"/>
                </a:solidFill>
              </a:defRPr>
            </a:pPr>
            <a:r>
              <a:rPr dirty="0"/>
              <a:t>• This dashboard analyzes breast cancer patient data.</a:t>
            </a:r>
          </a:p>
          <a:p>
            <a:pPr>
              <a:spcAft>
                <a:spcPts val="1400"/>
              </a:spcAft>
              <a:defRPr sz="2200">
                <a:solidFill>
                  <a:srgbClr val="5A5A5A"/>
                </a:solidFill>
              </a:defRPr>
            </a:pPr>
            <a:r>
              <a:rPr dirty="0"/>
              <a:t>• The analysis focuses on age, cancer stage, tumor size, hormone status and survival.</a:t>
            </a:r>
          </a:p>
          <a:p>
            <a:pPr>
              <a:spcAft>
                <a:spcPts val="1400"/>
              </a:spcAft>
              <a:defRPr sz="2200">
                <a:solidFill>
                  <a:srgbClr val="5A5A5A"/>
                </a:solidFill>
              </a:defRPr>
            </a:pPr>
            <a:r>
              <a:rPr dirty="0"/>
              <a:t>• The main aim is to identify simple patterns and understand the condition of the patients.</a:t>
            </a:r>
            <a:endParaRPr lang="en-US" dirty="0"/>
          </a:p>
          <a:p>
            <a:pPr>
              <a:spcAft>
                <a:spcPts val="1400"/>
              </a:spcAft>
              <a:defRPr sz="2200">
                <a:solidFill>
                  <a:srgbClr val="5A5A5A"/>
                </a:solidFill>
              </a:defRPr>
            </a:pPr>
            <a:endParaRPr lang="en-US" dirty="0"/>
          </a:p>
          <a:p>
            <a:pPr>
              <a:spcAft>
                <a:spcPts val="1400"/>
              </a:spcAft>
              <a:defRPr sz="2200">
                <a:solidFill>
                  <a:srgbClr val="5A5A5A"/>
                </a:solidFill>
              </a:defRPr>
            </a:pPr>
            <a:r>
              <a:rPr lang="en-US" b="1" dirty="0"/>
              <a:t>                              OBJECTIVES</a:t>
            </a:r>
          </a:p>
          <a:p>
            <a:pPr>
              <a:spcAft>
                <a:spcPts val="1400"/>
              </a:spcAft>
              <a:defRPr sz="2200">
                <a:solidFill>
                  <a:srgbClr val="5A5A5A"/>
                </a:solidFill>
              </a:defRPr>
            </a:pPr>
            <a:endParaRPr lang="en-US" b="1" dirty="0"/>
          </a:p>
          <a:p>
            <a:pPr lvl="0"/>
            <a:r>
              <a:rPr lang="en-US" dirty="0"/>
              <a:t>Determine the average age of breast cancer patients</a:t>
            </a:r>
          </a:p>
          <a:p>
            <a:pPr lvl="0"/>
            <a:r>
              <a:rPr lang="en-US" dirty="0"/>
              <a:t>Identify the most common cancer stage among patients</a:t>
            </a:r>
          </a:p>
          <a:p>
            <a:pPr lvl="0"/>
            <a:r>
              <a:rPr lang="en-US" dirty="0"/>
              <a:t>Examine the relationship between tumor size and cancer stage</a:t>
            </a:r>
          </a:p>
          <a:p>
            <a:pPr lvl="0"/>
            <a:r>
              <a:rPr lang="en-US" dirty="0"/>
              <a:t>what are the relationships between hormone receptor status and survival</a:t>
            </a:r>
          </a:p>
          <a:p>
            <a:pPr lvl="0"/>
            <a:r>
              <a:rPr lang="en-US" dirty="0"/>
              <a:t>Determine the number of patients who are alive or dead</a:t>
            </a:r>
          </a:p>
          <a:p>
            <a:r>
              <a:rPr lang="en-US" dirty="0"/>
              <a:t> </a:t>
            </a:r>
          </a:p>
          <a:p>
            <a:pPr>
              <a:spcAft>
                <a:spcPts val="1400"/>
              </a:spcAft>
              <a:defRPr sz="2200">
                <a:solidFill>
                  <a:srgbClr val="5A5A5A"/>
                </a:solidFill>
              </a:defRPr>
            </a:pPr>
            <a:endParaRPr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1B5EC7-F1AE-8BEB-846E-54DCAFE70D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724773"/>
              </p:ext>
            </p:extLst>
          </p:nvPr>
        </p:nvGraphicFramePr>
        <p:xfrm>
          <a:off x="280220" y="353961"/>
          <a:ext cx="11149780" cy="63123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2630">
                  <a:extLst>
                    <a:ext uri="{9D8B030D-6E8A-4147-A177-3AD203B41FA5}">
                      <a16:colId xmlns:a16="http://schemas.microsoft.com/office/drawing/2014/main" val="2047120309"/>
                    </a:ext>
                  </a:extLst>
                </a:gridCol>
                <a:gridCol w="6292769">
                  <a:extLst>
                    <a:ext uri="{9D8B030D-6E8A-4147-A177-3AD203B41FA5}">
                      <a16:colId xmlns:a16="http://schemas.microsoft.com/office/drawing/2014/main" val="4161295877"/>
                    </a:ext>
                  </a:extLst>
                </a:gridCol>
                <a:gridCol w="4004381">
                  <a:extLst>
                    <a:ext uri="{9D8B030D-6E8A-4147-A177-3AD203B41FA5}">
                      <a16:colId xmlns:a16="http://schemas.microsoft.com/office/drawing/2014/main" val="1081936017"/>
                    </a:ext>
                  </a:extLst>
                </a:gridCol>
              </a:tblGrid>
              <a:tr h="10520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S/N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OBJECTS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VARIABLES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027984"/>
                  </a:ext>
                </a:extLst>
              </a:tr>
              <a:tr h="5100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Breast Cancer Patients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Age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636588"/>
                  </a:ext>
                </a:extLst>
              </a:tr>
              <a:tr h="10520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Breast Cancer Patients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T Stage, N stage,6</a:t>
                      </a:r>
                      <a:r>
                        <a:rPr lang="en-US" sz="1600" kern="100" baseline="30000">
                          <a:effectLst/>
                        </a:rPr>
                        <a:t>th</a:t>
                      </a:r>
                      <a:r>
                        <a:rPr lang="en-US" sz="1600" kern="100">
                          <a:effectLst/>
                        </a:rPr>
                        <a:t> Stage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026730"/>
                  </a:ext>
                </a:extLst>
              </a:tr>
              <a:tr h="10520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Breast Cancer Patients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Tumor Size, T Stage,6</a:t>
                      </a:r>
                      <a:r>
                        <a:rPr lang="en-US" sz="1600" kern="100" baseline="30000">
                          <a:effectLst/>
                        </a:rPr>
                        <a:t>th</a:t>
                      </a:r>
                      <a:r>
                        <a:rPr lang="en-US" sz="1600" kern="100">
                          <a:effectLst/>
                        </a:rPr>
                        <a:t> Stage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229188"/>
                  </a:ext>
                </a:extLst>
              </a:tr>
              <a:tr h="15940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Breast Cancer Patients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Estrogen Status, Prosgesterone Status, Survival Month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26197"/>
                  </a:ext>
                </a:extLst>
              </a:tr>
              <a:tr h="10520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Breast Cancer Patients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Status, Age, Tumor Size, 6</a:t>
                      </a:r>
                      <a:r>
                        <a:rPr lang="en-US" sz="1600" kern="100" baseline="30000" dirty="0">
                          <a:effectLst/>
                        </a:rPr>
                        <a:t>th</a:t>
                      </a:r>
                      <a:r>
                        <a:rPr lang="en-US" sz="1600" kern="100" dirty="0">
                          <a:effectLst/>
                        </a:rPr>
                        <a:t> Stage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97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0881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D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4B41"/>
                </a:solidFill>
              </a:defRPr>
            </a:pPr>
            <a:r>
              <a:t>2. Key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Important figures from the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331720" cy="123444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5D9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4B41"/>
                </a:solidFill>
              </a:defRPr>
            </a:pPr>
            <a:r>
              <a:t>53.97</a:t>
            </a:r>
          </a:p>
          <a:p>
            <a:pPr algn="ctr">
              <a:defRPr sz="1100">
                <a:solidFill>
                  <a:srgbClr val="5A5A5A"/>
                </a:solidFill>
              </a:defRPr>
            </a:pPr>
            <a:r>
              <a:t>Average 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508760"/>
            <a:ext cx="2331720" cy="123444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5D9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4B41"/>
                </a:solidFill>
              </a:defRPr>
            </a:pPr>
            <a:r>
              <a:t>30.47</a:t>
            </a:r>
          </a:p>
          <a:p>
            <a:pPr algn="ctr">
              <a:defRPr sz="1100">
                <a:solidFill>
                  <a:srgbClr val="5A5A5A"/>
                </a:solidFill>
              </a:defRPr>
            </a:pPr>
            <a:r>
              <a:t>Average Tumor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508760"/>
            <a:ext cx="2331720" cy="123444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5D9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4B41"/>
                </a:solidFill>
              </a:defRPr>
            </a:pPr>
            <a:r>
              <a:t>71.30</a:t>
            </a:r>
          </a:p>
          <a:p>
            <a:pPr algn="ctr">
              <a:defRPr sz="1100">
                <a:solidFill>
                  <a:srgbClr val="5A5A5A"/>
                </a:solidFill>
              </a:defRPr>
            </a:pPr>
            <a:r>
              <a:t>Average Survival (Months)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1508760"/>
            <a:ext cx="2331720" cy="123444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5D9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4B41"/>
                </a:solidFill>
              </a:defRPr>
            </a:pPr>
            <a:r>
              <a:t>84.69%</a:t>
            </a:r>
          </a:p>
          <a:p>
            <a:pPr algn="ctr">
              <a:defRPr sz="1100">
                <a:solidFill>
                  <a:srgbClr val="5A5A5A"/>
                </a:solidFill>
              </a:defRPr>
            </a:pPr>
            <a:r>
              <a:t>Patients Alive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246120"/>
            <a:ext cx="2331720" cy="123444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5D9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4B41"/>
                </a:solidFill>
              </a:defRPr>
            </a:pPr>
            <a:r>
              <a:t>15.31%</a:t>
            </a:r>
          </a:p>
          <a:p>
            <a:pPr algn="ctr">
              <a:defRPr sz="1100">
                <a:solidFill>
                  <a:srgbClr val="5A5A5A"/>
                </a:solidFill>
              </a:defRPr>
            </a:pPr>
            <a:r>
              <a:t>Patients Dead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5A5A5A"/>
                </a:solidFill>
              </a:defRPr>
            </a:pPr>
            <a:r>
              <a:t>• Most patients in the dataset are alive.</a:t>
            </a:r>
          </a:p>
          <a:p>
            <a:pPr>
              <a:spcAft>
                <a:spcPts val="1400"/>
              </a:spcAft>
              <a:defRPr sz="1700">
                <a:solidFill>
                  <a:srgbClr val="5A5A5A"/>
                </a:solidFill>
              </a:defRPr>
            </a:pPr>
            <a:r>
              <a:t>• The average patient age is about 54 years.</a:t>
            </a:r>
          </a:p>
          <a:p>
            <a:pPr>
              <a:spcAft>
                <a:spcPts val="1400"/>
              </a:spcAft>
              <a:defRPr sz="1700">
                <a:solidFill>
                  <a:srgbClr val="5A5A5A"/>
                </a:solidFill>
              </a:defRPr>
            </a:pPr>
            <a:r>
              <a:t>• The average survival period is about 71 months.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D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4B41"/>
                </a:solidFill>
              </a:defRPr>
            </a:pPr>
            <a:r>
              <a:t>3. Patients by Cancer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Stage IIA has the highest number of patients.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Stage IIB has the second-highest number.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Stage IIIA also has a large number of patients.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Stage IIIB has the lowest number of patients.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Most patients are between Stage IIA and Stage IIIA.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D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4B41"/>
                </a:solidFill>
              </a:defRPr>
            </a:pPr>
            <a:r>
              <a:t>4. Tumor Size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T3 has the largest average tumor size.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T4 has the second-largest average tumor size.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T2 has a smaller average tumor size.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T1 has the smallest average tumor size.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Overall, tumor size increases as the T stage moves from T1 toward T3.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D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4B41"/>
                </a:solidFill>
              </a:defRPr>
            </a:pPr>
            <a:r>
              <a:t>5. Hormone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The dashboard includes Estrogen Status and Progesterone Status.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Estrogen status changes across the different age groups.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Progesterone status is grouped into Positive and Negative.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These variables can be used for further analysis of patient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D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4B41"/>
                </a:solidFill>
              </a:defRPr>
            </a:pPr>
            <a:r>
              <a:t>6. Survival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1463040"/>
            <a:ext cx="2331720" cy="123444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5D9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4B41"/>
                </a:solidFill>
              </a:defRPr>
            </a:pPr>
            <a:r>
              <a:t>3.41K</a:t>
            </a:r>
          </a:p>
          <a:p>
            <a:pPr algn="ctr">
              <a:defRPr sz="1100">
                <a:solidFill>
                  <a:srgbClr val="5A5A5A"/>
                </a:solidFill>
              </a:defRPr>
            </a:pPr>
            <a:r>
              <a:t>Alive — 84.69%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463040"/>
            <a:ext cx="2331720" cy="123444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5D9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4B41"/>
                </a:solidFill>
              </a:defRPr>
            </a:pPr>
            <a:r>
              <a:t>0.62K</a:t>
            </a:r>
          </a:p>
          <a:p>
            <a:pPr algn="ctr">
              <a:defRPr sz="1100">
                <a:solidFill>
                  <a:srgbClr val="5A5A5A"/>
                </a:solidFill>
              </a:defRPr>
            </a:pPr>
            <a:r>
              <a:t>Dead — 15.31%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2331720" cy="1234440"/>
          </a:xfrm>
          <a:prstGeom prst="roundRect">
            <a:avLst/>
          </a:prstGeom>
          <a:solidFill>
            <a:srgbClr val="EEF5F1"/>
          </a:solidFill>
          <a:ln w="19050">
            <a:solidFill>
              <a:srgbClr val="5D9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4B41"/>
                </a:solidFill>
              </a:defRPr>
            </a:pPr>
            <a:r>
              <a:t>71.30</a:t>
            </a:r>
          </a:p>
          <a:p>
            <a:pPr algn="ctr">
              <a:defRPr sz="1100">
                <a:solidFill>
                  <a:srgbClr val="5A5A5A"/>
                </a:solidFill>
              </a:defRPr>
            </a:pPr>
            <a:r>
              <a:t>Average Survival (Months)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The majority of patients are alive.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About 85 out of every 100 patients are recorded as alive.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About 15 out of every 100 patients are recorded as dead.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D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4B41"/>
                </a:solidFill>
              </a:defRPr>
            </a:pPr>
            <a:r>
              <a:t>7. Survival by Cancer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The chart compares patients who are alive and dead across cancer stages.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Stage IIA has the highest number of patients who are alive.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This is partly because Stage IIA also has the largest patient population.</a:t>
            </a:r>
          </a:p>
          <a:p>
            <a:pPr>
              <a:spcAft>
                <a:spcPts val="1400"/>
              </a:spcAft>
              <a:defRPr sz="2000">
                <a:solidFill>
                  <a:srgbClr val="5A5A5A"/>
                </a:solidFill>
              </a:defRPr>
            </a:pPr>
            <a:r>
              <a:t>• For a fair comparison, survival percentage should be calculated for each stage.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D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4B41"/>
                </a:solidFill>
              </a:defRPr>
            </a:pPr>
            <a:r>
              <a:t>8. Main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A5A5A"/>
                </a:solidFill>
              </a:defRPr>
            </a:pPr>
            <a:r>
              <a:t>• Average patient age: 53.97 years.</a:t>
            </a:r>
          </a:p>
          <a:p>
            <a:pPr>
              <a:spcAft>
                <a:spcPts val="1400"/>
              </a:spcAft>
              <a:defRPr sz="1800">
                <a:solidFill>
                  <a:srgbClr val="5A5A5A"/>
                </a:solidFill>
              </a:defRPr>
            </a:pPr>
            <a:r>
              <a:t>• Stage IIA has the highest number of patients.</a:t>
            </a:r>
          </a:p>
          <a:p>
            <a:pPr>
              <a:spcAft>
                <a:spcPts val="1400"/>
              </a:spcAft>
              <a:defRPr sz="1800">
                <a:solidFill>
                  <a:srgbClr val="5A5A5A"/>
                </a:solidFill>
              </a:defRPr>
            </a:pPr>
            <a:r>
              <a:t>• T3 has the largest average tumor size.</a:t>
            </a:r>
          </a:p>
          <a:p>
            <a:pPr>
              <a:spcAft>
                <a:spcPts val="1400"/>
              </a:spcAft>
              <a:defRPr sz="1800">
                <a:solidFill>
                  <a:srgbClr val="5A5A5A"/>
                </a:solidFill>
              </a:defRPr>
            </a:pPr>
            <a:r>
              <a:t>• T1 has the smallest average tumor size.</a:t>
            </a:r>
          </a:p>
          <a:p>
            <a:pPr>
              <a:spcAft>
                <a:spcPts val="1400"/>
              </a:spcAft>
              <a:defRPr sz="1800">
                <a:solidFill>
                  <a:srgbClr val="5A5A5A"/>
                </a:solidFill>
              </a:defRPr>
            </a:pPr>
            <a:r>
              <a:t>• 84.69% of patients are alive, while 15.31% are recorded as dead.</a:t>
            </a:r>
          </a:p>
          <a:p>
            <a:pPr>
              <a:spcAft>
                <a:spcPts val="1400"/>
              </a:spcAft>
              <a:defRPr sz="1800">
                <a:solidFill>
                  <a:srgbClr val="5A5A5A"/>
                </a:solidFill>
              </a:defRPr>
            </a:pPr>
            <a:r>
              <a:t>• Average survival is 71.30 months.</a:t>
            </a:r>
          </a:p>
          <a:p>
            <a:pPr>
              <a:spcAft>
                <a:spcPts val="1400"/>
              </a:spcAft>
              <a:defRPr sz="1800">
                <a:solidFill>
                  <a:srgbClr val="5A5A5A"/>
                </a:solidFill>
              </a:defRPr>
            </a:pPr>
            <a:r>
              <a:t>• Hormone status varies among patients and age groups.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D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4B41"/>
                </a:solidFill>
              </a:defRPr>
            </a:pPr>
            <a:r>
              <a:t>9.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5A5A5A"/>
                </a:solidFill>
              </a:defRPr>
            </a:pPr>
            <a:r>
              <a:t>• Encourage regular breast cancer screening.</a:t>
            </a:r>
          </a:p>
          <a:p>
            <a:pPr>
              <a:spcAft>
                <a:spcPts val="1400"/>
              </a:spcAft>
              <a:defRPr sz="1900">
                <a:solidFill>
                  <a:srgbClr val="5A5A5A"/>
                </a:solidFill>
              </a:defRPr>
            </a:pPr>
            <a:r>
              <a:t>• Promote early diagnosis and treatment.</a:t>
            </a:r>
          </a:p>
          <a:p>
            <a:pPr>
              <a:spcAft>
                <a:spcPts val="1400"/>
              </a:spcAft>
              <a:defRPr sz="1900">
                <a:solidFill>
                  <a:srgbClr val="5A5A5A"/>
                </a:solidFill>
              </a:defRPr>
            </a:pPr>
            <a:r>
              <a:t>• Study tumor size and cancer stage together.</a:t>
            </a:r>
          </a:p>
          <a:p>
            <a:pPr>
              <a:spcAft>
                <a:spcPts val="1400"/>
              </a:spcAft>
              <a:defRPr sz="1900">
                <a:solidFill>
                  <a:srgbClr val="5A5A5A"/>
                </a:solidFill>
              </a:defRPr>
            </a:pPr>
            <a:r>
              <a:t>• Calculate survival rates for each cancer stage.</a:t>
            </a:r>
          </a:p>
          <a:p>
            <a:pPr>
              <a:spcAft>
                <a:spcPts val="1400"/>
              </a:spcAft>
              <a:defRPr sz="1900">
                <a:solidFill>
                  <a:srgbClr val="5A5A5A"/>
                </a:solidFill>
              </a:defRPr>
            </a:pPr>
            <a:r>
              <a:t>• Further study the relationship between hormone status and survival.</a:t>
            </a:r>
          </a:p>
          <a:p>
            <a:pPr>
              <a:spcAft>
                <a:spcPts val="1400"/>
              </a:spcAft>
              <a:defRPr sz="1900">
                <a:solidFill>
                  <a:srgbClr val="5A5A5A"/>
                </a:solidFill>
              </a:defRPr>
            </a:pPr>
            <a:r>
              <a:t>• Continue using data analysis to better understand patient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D97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D4B41"/>
                </a:solidFill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5A5A5A"/>
                </a:solidFill>
              </a:defRPr>
            </a:pPr>
            <a:r>
              <a:t>• The dashboard gives a clear overview of the breast cancer patients in the dataset.</a:t>
            </a:r>
          </a:p>
          <a:p>
            <a:pPr>
              <a:spcAft>
                <a:spcPts val="1400"/>
              </a:spcAft>
              <a:defRPr sz="1900">
                <a:solidFill>
                  <a:srgbClr val="5A5A5A"/>
                </a:solidFill>
              </a:defRPr>
            </a:pPr>
            <a:r>
              <a:t>• The average patient age is about 54 years and most patients are recorded as alive.</a:t>
            </a:r>
          </a:p>
          <a:p>
            <a:pPr>
              <a:spcAft>
                <a:spcPts val="1400"/>
              </a:spcAft>
              <a:defRPr sz="1900">
                <a:solidFill>
                  <a:srgbClr val="5A5A5A"/>
                </a:solidFill>
              </a:defRPr>
            </a:pPr>
            <a:r>
              <a:t>• Stage IIA has the highest number of patients, while T3 has the largest average tumor size.</a:t>
            </a:r>
          </a:p>
          <a:p>
            <a:pPr>
              <a:spcAft>
                <a:spcPts val="1400"/>
              </a:spcAft>
              <a:defRPr sz="1900">
                <a:solidFill>
                  <a:srgbClr val="5A5A5A"/>
                </a:solidFill>
              </a:defRPr>
            </a:pPr>
            <a:r>
              <a:t>• The analysis shows the importance of looking at age, stage, tumor size, hormone status and survival together.</a:t>
            </a:r>
          </a:p>
          <a:p>
            <a:pPr>
              <a:spcAft>
                <a:spcPts val="1400"/>
              </a:spcAft>
              <a:defRPr sz="1900">
                <a:solidFill>
                  <a:srgbClr val="5A5A5A"/>
                </a:solidFill>
              </a:defRPr>
            </a:pPr>
            <a:r>
              <a:t>• Early detection, proper treatment and regular monitoring remain important.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C0793A-020F-85E0-1683-361B34711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83" y="0"/>
            <a:ext cx="119196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28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3FE521-B919-7A84-6B10-EE11764F3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5" y="103240"/>
            <a:ext cx="11931444" cy="675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456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201168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D4B41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741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uchechi umezurike</dc:creator>
  <cp:keywords/>
  <dc:description>generated using python-pptx</dc:description>
  <cp:lastModifiedBy>uchechi umezurike</cp:lastModifiedBy>
  <cp:revision>3</cp:revision>
  <dcterms:created xsi:type="dcterms:W3CDTF">2013-01-27T09:14:16Z</dcterms:created>
  <dcterms:modified xsi:type="dcterms:W3CDTF">2026-08-31T16:55:33Z</dcterms:modified>
  <cp:category/>
</cp:coreProperties>
</file>